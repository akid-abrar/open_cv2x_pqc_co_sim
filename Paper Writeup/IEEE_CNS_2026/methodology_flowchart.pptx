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5303838" cy="5486400"/>
  <p:notesSz cx="6858000" cy="9144000"/>
  <p:defaultTextStyle>
    <a:defPPr>
      <a:defRPr lang="en-US"/>
    </a:defPPr>
    <a:lvl1pPr marL="0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82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25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457171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1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9C89"/>
    <a:srgbClr val="CCC1DA"/>
    <a:srgbClr val="F85534"/>
    <a:srgbClr val="C2B3F7"/>
    <a:srgbClr val="100468"/>
    <a:srgbClr val="8782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2078" y="82"/>
      </p:cViewPr>
      <p:guideLst>
        <p:guide orient="horz" pos="1728"/>
        <p:guide pos="125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422" y="1704348"/>
            <a:ext cx="3382077" cy="1176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839" y="3108960"/>
            <a:ext cx="2785240" cy="1402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15" y="3525528"/>
            <a:ext cx="3382077" cy="10896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15" y="2325377"/>
            <a:ext cx="3382077" cy="120015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94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13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32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50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954" y="1280166"/>
            <a:ext cx="1757353" cy="36207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22623" y="1280166"/>
            <a:ext cx="1757353" cy="36207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954" y="1228094"/>
            <a:ext cx="1758045" cy="5118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6" indent="0">
              <a:buNone/>
              <a:defRPr sz="2000" b="1"/>
            </a:lvl2pPr>
            <a:lvl3pPr marL="914379" indent="0">
              <a:buNone/>
              <a:defRPr sz="1801" b="1"/>
            </a:lvl3pPr>
            <a:lvl4pPr marL="1371565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1" indent="0">
              <a:buNone/>
              <a:defRPr sz="1600" b="1"/>
            </a:lvl6pPr>
            <a:lvl7pPr marL="2743133" indent="0">
              <a:buNone/>
              <a:defRPr sz="1600" b="1"/>
            </a:lvl7pPr>
            <a:lvl8pPr marL="3200321" indent="0">
              <a:buNone/>
              <a:defRPr sz="1600" b="1"/>
            </a:lvl8pPr>
            <a:lvl9pPr marL="365750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954" y="1739899"/>
            <a:ext cx="1758045" cy="31610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21238" y="1228094"/>
            <a:ext cx="1758737" cy="5118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6" indent="0">
              <a:buNone/>
              <a:defRPr sz="2000" b="1"/>
            </a:lvl2pPr>
            <a:lvl3pPr marL="914379" indent="0">
              <a:buNone/>
              <a:defRPr sz="1801" b="1"/>
            </a:lvl3pPr>
            <a:lvl4pPr marL="1371565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1" indent="0">
              <a:buNone/>
              <a:defRPr sz="1600" b="1"/>
            </a:lvl6pPr>
            <a:lvl7pPr marL="2743133" indent="0">
              <a:buNone/>
              <a:defRPr sz="1600" b="1"/>
            </a:lvl7pPr>
            <a:lvl8pPr marL="3200321" indent="0">
              <a:buNone/>
              <a:defRPr sz="1600" b="1"/>
            </a:lvl8pPr>
            <a:lvl9pPr marL="365750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1238" y="1739899"/>
            <a:ext cx="1758737" cy="31610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50" y="218439"/>
            <a:ext cx="1309036" cy="9296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651" y="218448"/>
            <a:ext cx="2224325" cy="46824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50" y="1148083"/>
            <a:ext cx="1309036" cy="3752851"/>
          </a:xfrm>
        </p:spPr>
        <p:txBody>
          <a:bodyPr/>
          <a:lstStyle>
            <a:lvl1pPr marL="0" indent="0">
              <a:buNone/>
              <a:defRPr sz="1401"/>
            </a:lvl1pPr>
            <a:lvl2pPr marL="457186" indent="0">
              <a:buNone/>
              <a:defRPr sz="1200"/>
            </a:lvl2pPr>
            <a:lvl3pPr marL="914379" indent="0">
              <a:buNone/>
              <a:defRPr sz="1001"/>
            </a:lvl3pPr>
            <a:lvl4pPr marL="1371565" indent="0">
              <a:buNone/>
              <a:defRPr sz="900"/>
            </a:lvl4pPr>
            <a:lvl5pPr marL="1828754" indent="0">
              <a:buNone/>
              <a:defRPr sz="900"/>
            </a:lvl5pPr>
            <a:lvl6pPr marL="2285941" indent="0">
              <a:buNone/>
              <a:defRPr sz="900"/>
            </a:lvl6pPr>
            <a:lvl7pPr marL="2743133" indent="0">
              <a:buNone/>
              <a:defRPr sz="900"/>
            </a:lvl7pPr>
            <a:lvl8pPr marL="3200321" indent="0">
              <a:buNone/>
              <a:defRPr sz="900"/>
            </a:lvl8pPr>
            <a:lvl9pPr marL="365750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903" y="3840482"/>
            <a:ext cx="2387349" cy="45339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9903" y="490221"/>
            <a:ext cx="2387349" cy="3291840"/>
          </a:xfrm>
        </p:spPr>
        <p:txBody>
          <a:bodyPr/>
          <a:lstStyle>
            <a:lvl1pPr marL="0" indent="0">
              <a:buNone/>
              <a:defRPr sz="3200"/>
            </a:lvl1pPr>
            <a:lvl2pPr marL="457186" indent="0">
              <a:buNone/>
              <a:defRPr sz="2800"/>
            </a:lvl2pPr>
            <a:lvl3pPr marL="914379" indent="0">
              <a:buNone/>
              <a:defRPr sz="2400"/>
            </a:lvl3pPr>
            <a:lvl4pPr marL="1371565" indent="0">
              <a:buNone/>
              <a:defRPr sz="2000"/>
            </a:lvl4pPr>
            <a:lvl5pPr marL="1828754" indent="0">
              <a:buNone/>
              <a:defRPr sz="2000"/>
            </a:lvl5pPr>
            <a:lvl6pPr marL="2285941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0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903" y="4293872"/>
            <a:ext cx="2387349" cy="643890"/>
          </a:xfrm>
        </p:spPr>
        <p:txBody>
          <a:bodyPr/>
          <a:lstStyle>
            <a:lvl1pPr marL="0" indent="0">
              <a:buNone/>
              <a:defRPr sz="1401"/>
            </a:lvl1pPr>
            <a:lvl2pPr marL="457186" indent="0">
              <a:buNone/>
              <a:defRPr sz="1200"/>
            </a:lvl2pPr>
            <a:lvl3pPr marL="914379" indent="0">
              <a:buNone/>
              <a:defRPr sz="1001"/>
            </a:lvl3pPr>
            <a:lvl4pPr marL="1371565" indent="0">
              <a:buNone/>
              <a:defRPr sz="900"/>
            </a:lvl4pPr>
            <a:lvl5pPr marL="1828754" indent="0">
              <a:buNone/>
              <a:defRPr sz="900"/>
            </a:lvl5pPr>
            <a:lvl6pPr marL="2285941" indent="0">
              <a:buNone/>
              <a:defRPr sz="900"/>
            </a:lvl6pPr>
            <a:lvl7pPr marL="2743133" indent="0">
              <a:buNone/>
              <a:defRPr sz="900"/>
            </a:lvl7pPr>
            <a:lvl8pPr marL="3200321" indent="0">
              <a:buNone/>
              <a:defRPr sz="900"/>
            </a:lvl8pPr>
            <a:lvl9pPr marL="365750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84715" y="219720"/>
            <a:ext cx="895256" cy="46812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953" y="219720"/>
            <a:ext cx="2619453" cy="46812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949" y="219711"/>
            <a:ext cx="3581023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949" y="1280166"/>
            <a:ext cx="3581023" cy="3620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947" y="5085089"/>
            <a:ext cx="928413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59464" y="5085089"/>
            <a:ext cx="125999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1564" y="5085089"/>
            <a:ext cx="928413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0" indent="-342890" algn="l" defTabSz="457186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0" algn="l" defTabSz="457186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3" indent="-228596" algn="l" defTabSz="45718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6" algn="l" defTabSz="457186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0" indent="-228596" algn="l" defTabSz="457186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8" indent="-228596" algn="l" defTabSz="45718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8" indent="-228596" algn="l" defTabSz="45718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6" indent="-228596" algn="l" defTabSz="45718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6" algn="l" defTabSz="45718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6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9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5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1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3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1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8" algn="l" defTabSz="45718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579" y="48747"/>
            <a:ext cx="5120644" cy="310896"/>
          </a:xfrm>
          <a:prstGeom prst="rect">
            <a:avLst/>
          </a:prstGeom>
          <a:solidFill>
            <a:srgbClr val="100468"/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sz="1401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593" y="359643"/>
            <a:ext cx="5120629" cy="11155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01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187346" y="744545"/>
            <a:ext cx="1547117" cy="5108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lang="en-US" sz="900" b="1" dirty="0">
              <a:solidFill>
                <a:srgbClr val="FFFFFF"/>
              </a:solidFill>
            </a:endParaRP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50724" y="525415"/>
            <a:ext cx="751783" cy="7132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">
            <a:solidFill>
              <a:srgbClr val="C6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Veins</a:t>
            </a:r>
          </a:p>
          <a:p>
            <a:pPr algn="ctr"/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TraCI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7993" y="744537"/>
            <a:ext cx="1638481" cy="494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">
            <a:solidFill>
              <a:srgbClr val="287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lang="en-US" sz="900" b="1" dirty="0">
              <a:solidFill>
                <a:srgbClr val="FFFFFF"/>
              </a:solidFill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1734464" y="904251"/>
            <a:ext cx="475486" cy="0"/>
          </a:xfrm>
          <a:prstGeom prst="line">
            <a:avLst/>
          </a:prstGeom>
          <a:ln w="19050">
            <a:solidFill>
              <a:srgbClr val="22222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3002507" y="890603"/>
            <a:ext cx="475486" cy="0"/>
          </a:xfrm>
          <a:prstGeom prst="line">
            <a:avLst/>
          </a:prstGeom>
          <a:ln w="19050">
            <a:solidFill>
              <a:srgbClr val="22222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7347" y="500379"/>
            <a:ext cx="1547116" cy="2560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Simulator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7992" y="518703"/>
            <a:ext cx="1638481" cy="2188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Simulator</a:t>
            </a:r>
            <a:endParaRPr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2651903" y="1514492"/>
            <a:ext cx="0" cy="201166"/>
          </a:xfrm>
          <a:prstGeom prst="line">
            <a:avLst/>
          </a:prstGeom>
          <a:ln w="22860">
            <a:solidFill>
              <a:schemeClr val="tx1">
                <a:lumMod val="85000"/>
                <a:lumOff val="15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579" y="2014305"/>
            <a:ext cx="5120640" cy="4127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850" dirty="0">
              <a:solidFill>
                <a:srgbClr val="FFFFFF"/>
              </a:solidFill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2651907" y="2453616"/>
            <a:ext cx="0" cy="201166"/>
          </a:xfrm>
          <a:prstGeom prst="line">
            <a:avLst/>
          </a:prstGeom>
          <a:ln w="22860">
            <a:solidFill>
              <a:schemeClr val="tx1">
                <a:lumMod val="85000"/>
                <a:lumOff val="15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2651907" y="3560043"/>
            <a:ext cx="0" cy="201166"/>
          </a:xfrm>
          <a:prstGeom prst="line">
            <a:avLst/>
          </a:prstGeom>
          <a:ln w="22860">
            <a:solidFill>
              <a:schemeClr val="tx1">
                <a:lumMod val="85000"/>
                <a:lumOff val="15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587" y="3754245"/>
            <a:ext cx="5120640" cy="7161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">
            <a:solidFill>
              <a:srgbClr val="C6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850" dirty="0">
              <a:solidFill>
                <a:srgbClr val="FFFFFF"/>
              </a:solidFill>
            </a:endParaRP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2651907" y="4470406"/>
            <a:ext cx="0" cy="201166"/>
          </a:xfrm>
          <a:prstGeom prst="line">
            <a:avLst/>
          </a:prstGeom>
          <a:ln w="22860">
            <a:solidFill>
              <a:schemeClr val="tx1">
                <a:lumMod val="85000"/>
                <a:lumOff val="15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A3DAE0-943D-56FD-78F7-06E3A0E8B7AD}"/>
              </a:ext>
            </a:extLst>
          </p:cNvPr>
          <p:cNvSpPr txBox="1"/>
          <p:nvPr/>
        </p:nvSpPr>
        <p:spPr>
          <a:xfrm>
            <a:off x="115661" y="876200"/>
            <a:ext cx="16904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OMNeT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++(OpenCV2X)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B21C86-1C3F-D385-0E86-63BB9F8548B0}"/>
              </a:ext>
            </a:extLst>
          </p:cNvPr>
          <p:cNvSpPr txBox="1"/>
          <p:nvPr/>
        </p:nvSpPr>
        <p:spPr>
          <a:xfrm>
            <a:off x="3673123" y="849728"/>
            <a:ext cx="1248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SUMO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D2EF7B-849B-EFFB-90E1-4474BEB4CF96}"/>
              </a:ext>
            </a:extLst>
          </p:cNvPr>
          <p:cNvSpPr/>
          <p:nvPr/>
        </p:nvSpPr>
        <p:spPr>
          <a:xfrm>
            <a:off x="91583" y="1715661"/>
            <a:ext cx="5120640" cy="31089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lang="en-US" sz="14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PQC Integration</a:t>
            </a:r>
            <a:endParaRPr sz="1401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4788F-EE7C-C987-9ADC-CE0FBF34FFC4}"/>
              </a:ext>
            </a:extLst>
          </p:cNvPr>
          <p:cNvSpPr txBox="1"/>
          <p:nvPr/>
        </p:nvSpPr>
        <p:spPr>
          <a:xfrm>
            <a:off x="91587" y="2101204"/>
            <a:ext cx="5120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ECDSA (baseline)  and Falcon-512  . Full SPDU size: 305 Byte  vs.  1,739 Byte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8A703B-B4CA-F8CA-53DE-DDFB5162527A}"/>
              </a:ext>
            </a:extLst>
          </p:cNvPr>
          <p:cNvSpPr/>
          <p:nvPr/>
        </p:nvSpPr>
        <p:spPr>
          <a:xfrm>
            <a:off x="91587" y="2634306"/>
            <a:ext cx="5120640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lang="en-US" sz="14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C-V2X Mode 4 Configuration</a:t>
            </a:r>
            <a:endParaRPr sz="1401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842828-0CFE-66B5-AB64-46852D67948A}"/>
              </a:ext>
            </a:extLst>
          </p:cNvPr>
          <p:cNvSpPr txBox="1"/>
          <p:nvPr/>
        </p:nvSpPr>
        <p:spPr>
          <a:xfrm>
            <a:off x="91594" y="4147959"/>
            <a:ext cx="5120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4-way intersection  ·  Line-of-sight  ·  traffic level-of-service 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5014E6-CCE6-C07B-6AB6-445EAE428E1C}"/>
              </a:ext>
            </a:extLst>
          </p:cNvPr>
          <p:cNvSpPr/>
          <p:nvPr/>
        </p:nvSpPr>
        <p:spPr>
          <a:xfrm>
            <a:off x="91587" y="3774388"/>
            <a:ext cx="5120640" cy="31089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lang="en-US" sz="14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 Traffic Scenario Configuration</a:t>
            </a:r>
            <a:endParaRPr sz="1401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1A1FF4-1A9D-D8E5-B810-8442D6E287CF}"/>
              </a:ext>
            </a:extLst>
          </p:cNvPr>
          <p:cNvSpPr/>
          <p:nvPr/>
        </p:nvSpPr>
        <p:spPr>
          <a:xfrm>
            <a:off x="91587" y="4991370"/>
            <a:ext cx="5120640" cy="428588"/>
          </a:xfrm>
          <a:prstGeom prst="rect">
            <a:avLst/>
          </a:prstGeom>
          <a:solidFill>
            <a:srgbClr val="CCC1DA"/>
          </a:solidFill>
          <a:ln w="1270">
            <a:solidFill>
              <a:srgbClr val="C6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850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7D6BA4-41BA-3DC8-E3AF-F79174F7547B}"/>
              </a:ext>
            </a:extLst>
          </p:cNvPr>
          <p:cNvSpPr/>
          <p:nvPr/>
        </p:nvSpPr>
        <p:spPr>
          <a:xfrm>
            <a:off x="91587" y="4690682"/>
            <a:ext cx="5120640" cy="310896"/>
          </a:xfrm>
          <a:prstGeom prst="rect">
            <a:avLst/>
          </a:prstGeom>
          <a:solidFill>
            <a:schemeClr val="accent4"/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lang="en-US" sz="14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Data Post-processing</a:t>
            </a:r>
            <a:endParaRPr sz="1401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87347" y="5088442"/>
            <a:ext cx="2417570" cy="250784"/>
          </a:xfrm>
          <a:prstGeom prst="rect">
            <a:avLst/>
          </a:prstGeom>
          <a:solidFill>
            <a:srgbClr val="FFC0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750" dirty="0">
              <a:solidFill>
                <a:srgbClr val="222222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98904" y="5081714"/>
            <a:ext cx="2417570" cy="250788"/>
          </a:xfrm>
          <a:prstGeom prst="rect">
            <a:avLst/>
          </a:prstGeom>
          <a:solidFill>
            <a:srgbClr val="92D05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750" dirty="0">
              <a:solidFill>
                <a:srgbClr val="22222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402D4C-88D0-CF0A-7E73-FF4A6694DB8B}"/>
              </a:ext>
            </a:extLst>
          </p:cNvPr>
          <p:cNvSpPr txBox="1"/>
          <p:nvPr/>
        </p:nvSpPr>
        <p:spPr>
          <a:xfrm>
            <a:off x="582316" y="5062235"/>
            <a:ext cx="1627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PDR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626600-FF4C-C004-5C1B-3563263EDF4E}"/>
              </a:ext>
            </a:extLst>
          </p:cNvPr>
          <p:cNvSpPr txBox="1"/>
          <p:nvPr/>
        </p:nvSpPr>
        <p:spPr>
          <a:xfrm>
            <a:off x="2698904" y="5081714"/>
            <a:ext cx="2417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End-to-end Latency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7D7DDC-48A1-DDC9-DFE1-53E67030E57D}"/>
              </a:ext>
            </a:extLst>
          </p:cNvPr>
          <p:cNvSpPr/>
          <p:nvPr/>
        </p:nvSpPr>
        <p:spPr>
          <a:xfrm>
            <a:off x="91594" y="2957653"/>
            <a:ext cx="5120640" cy="605402"/>
          </a:xfrm>
          <a:prstGeom prst="rect">
            <a:avLst/>
          </a:prstGeom>
          <a:solidFill>
            <a:srgbClr val="FB9C89"/>
          </a:solidFill>
          <a:ln w="12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endParaRPr sz="85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6082F7-206D-4AFD-A3D5-D15CA4296572}"/>
                  </a:ext>
                </a:extLst>
              </p:cNvPr>
              <p:cNvSpPr txBox="1"/>
              <p:nvPr/>
            </p:nvSpPr>
            <p:spPr>
              <a:xfrm>
                <a:off x="105115" y="2964312"/>
                <a:ext cx="5107104" cy="600164"/>
              </a:xfrm>
              <a:prstGeom prst="rect">
                <a:avLst/>
              </a:prstGeom>
              <a:solidFill>
                <a:srgbClr val="FB9C8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20 MHz  ·  100 RBs  ·  10 RBs/subchannel  ·  MCS 5–11  ·  23 dBm TX  ·  100 </a:t>
                </a:r>
                <a:r>
                  <a:rPr lang="en-US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RRI, </a:t>
                </a:r>
                <a14:m>
                  <m:oMath xmlns:m="http://schemas.openxmlformats.org/officeDocument/2006/math">
                    <m:r>
                      <a:rPr lang="en-US" sz="11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𝑘𝑒𝑒𝑝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= 0.8  ·  Full certificate in every 5th BSM, digest otherwise following SAE J3161 and IEEE 1609.2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6082F7-206D-4AFD-A3D5-D15CA4296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5" y="2964312"/>
                <a:ext cx="5107104" cy="600164"/>
              </a:xfrm>
              <a:prstGeom prst="rect">
                <a:avLst/>
              </a:prstGeom>
              <a:blipFill>
                <a:blip r:embed="rId2"/>
                <a:stretch>
                  <a:fillRect t="-1010" b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101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Akid Abrar</cp:lastModifiedBy>
  <cp:revision>8</cp:revision>
  <dcterms:created xsi:type="dcterms:W3CDTF">2013-01-27T09:14:16Z</dcterms:created>
  <dcterms:modified xsi:type="dcterms:W3CDTF">2026-05-19T01:14:15Z</dcterms:modified>
  <cp:category/>
</cp:coreProperties>
</file>