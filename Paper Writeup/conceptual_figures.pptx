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Conceptual Figures for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</a:defRPr>
            </a:pPr>
            <a:r>
              <a:t>Post-Quantum Cryptographic Authentication</a:t>
            </a:r>
            <a:br/>
            <a:r>
              <a:t>on C-V2X Mode 4 Sidelink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7F0E"/>
                </a:solidFill>
              </a:defRPr>
            </a:pPr>
            <a:r>
              <a:t>Draft / Conceptual — For Professor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7F7F"/>
                </a:solidFill>
              </a:defRPr>
            </a:pPr>
            <a:r>
              <a:t>6 figures: System Architecture, SPDU Structure, SPS Flowchart, Intersection Layout, TBS Feasibility, Subchannel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1 —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Simulation stack: SUMO ↔ Veins ↔ openCV2X (OMNeT++) with PQC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743200" cy="1097280"/>
          </a:xfrm>
          <a:prstGeom prst="roundRect">
            <a:avLst/>
          </a:prstGeom>
          <a:solidFill>
            <a:srgbClr val="98DF8A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SUMO</a:t>
            </a:r>
            <a:br/>
            <a:r>
              <a:t>(Microscopic Traffic Simulator)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Vehicle mobility</a:t>
            </a:r>
            <a:br/>
            <a:r>
              <a:t>• Intersection signal control</a:t>
            </a:r>
            <a:br/>
            <a:r>
              <a:t>• 4-leg intersection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645920"/>
            <a:ext cx="2743200" cy="1097280"/>
          </a:xfrm>
          <a:prstGeom prst="roundRect">
            <a:avLst/>
          </a:prstGeom>
          <a:solidFill>
            <a:srgbClr val="AEC7E8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Veins</a:t>
            </a:r>
            <a:br/>
            <a:r>
              <a:t>(V2X Simulation Framework)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788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TraCI interface to SUMO</a:t>
            </a:r>
            <a:br/>
            <a:r>
              <a:t>• Channel models (LOS/NLOS)</a:t>
            </a:r>
            <a:br/>
            <a:r>
              <a:t>• Mobility coupling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743200" cy="1097280"/>
          </a:xfrm>
          <a:prstGeom prst="roundRect">
            <a:avLst/>
          </a:prstGeom>
          <a:solidFill>
            <a:srgbClr val="FFBB78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OMNeT++ / openCV2X</a:t>
            </a:r>
            <a:br/>
            <a:r>
              <a:t>(Network Simulator)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788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LTE sidelink (PC5)</a:t>
            </a:r>
            <a:br/>
            <a:r>
              <a:t>• Mode 4 SPS MAC</a:t>
            </a:r>
            <a:br/>
            <a:r>
              <a:t>• Full protocol stack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194560"/>
            <a:ext cx="1508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200400" y="2286000"/>
            <a:ext cx="1508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7F7F"/>
                </a:solidFill>
              </a:defRPr>
            </a:pPr>
            <a:r>
              <a:t>TraCI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2194560"/>
            <a:ext cx="1508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52360" y="2286000"/>
            <a:ext cx="1508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9520" y="1828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7F7F"/>
                </a:solidFill>
              </a:defRPr>
            </a:pPr>
            <a:r>
              <a:t>INET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840480"/>
            <a:ext cx="5760720" cy="594360"/>
          </a:xfrm>
          <a:prstGeom prst="rect">
            <a:avLst/>
          </a:prstGeom>
          <a:solidFill>
            <a:srgbClr val="FDE8D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Application Layer (Mode4App)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886200"/>
            <a:ext cx="2286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PQC Module</a:t>
            </a:r>
            <a:br/>
            <a:r>
              <a:t>(liboqs: Falcon-512,</a:t>
            </a:r>
            <a:br/>
            <a:r>
              <a:t>Dilithium-2, ECDSA)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507992"/>
            <a:ext cx="5760720" cy="475488"/>
          </a:xfrm>
          <a:prstGeom prst="rect">
            <a:avLst/>
          </a:prstGeom>
          <a:solidFill>
            <a:srgbClr val="FFEBCD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IEEE 1609.2 Security (SPDU: Header + BSM + Signature + Certificate/Digest)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056632"/>
            <a:ext cx="5760720" cy="386334"/>
          </a:xfrm>
          <a:prstGeom prst="rect">
            <a:avLst/>
          </a:prstGeom>
          <a:solidFill>
            <a:srgbClr val="DEEBF7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PDCP / RLC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516118"/>
            <a:ext cx="5760720" cy="594360"/>
          </a:xfrm>
          <a:prstGeom prst="rect">
            <a:avLst/>
          </a:prstGeom>
          <a:solidFill>
            <a:srgbClr val="AEC7E8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MAC Layer — Mode 4 SPS (LteMacVUeMode4)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561838"/>
            <a:ext cx="2286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SPS: Sensing + Selection</a:t>
            </a:r>
            <a:br/>
            <a:r>
              <a:t>Reselection Counter</a:t>
            </a:r>
            <a:br/>
            <a:r>
              <a:t>CBR Congestion Ctrl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6183630"/>
            <a:ext cx="5760720" cy="475488"/>
          </a:xfrm>
          <a:prstGeom prst="rect">
            <a:avLst/>
          </a:prstGeom>
          <a:solidFill>
            <a:srgbClr val="D5E8D4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PHY — LTE Sidelink PC5 (PSCCH + PSSCH)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6732270"/>
            <a:ext cx="2880360" cy="356616"/>
          </a:xfrm>
          <a:prstGeom prst="rect">
            <a:avLst/>
          </a:prstGeom>
          <a:solidFill>
            <a:srgbClr val="E8F5E9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LOS: Analytical</a:t>
            </a:r>
            <a:br/>
            <a:r>
              <a:t>(Dual-slope)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974" y="6732270"/>
            <a:ext cx="2765145" cy="356616"/>
          </a:xfrm>
          <a:prstGeom prst="rect">
            <a:avLst/>
          </a:prstGeom>
          <a:solidFill>
            <a:srgbClr val="FCE4EC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NLOS: Urban Microcell</a:t>
            </a:r>
            <a:br/>
            <a:r>
              <a:t>+ Nakagami Fading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2 — IEEE 1609.2 SPDU Byte-Level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Comparison of SPDU sizes: ECDSA (compact) vs Falcon-512 (viable) vs Dilithium-2 (infeasible)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33333"/>
                </a:solidFill>
              </a:defRPr>
            </a:pPr>
            <a:r>
              <a:t>ECDSA-256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74520"/>
            <a:ext cx="137160" cy="731520"/>
          </a:xfrm>
          <a:prstGeom prst="rect">
            <a:avLst/>
          </a:prstGeom>
          <a:solidFill>
            <a:srgbClr val="BDBDBD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Hdrs</a:t>
            </a:r>
            <a:br/>
            <a:r>
              <a:t>28B</a:t>
            </a:r>
          </a:p>
        </p:txBody>
      </p:sp>
      <p:sp>
        <p:nvSpPr>
          <p:cNvPr id="6" name="Rectangle 5"/>
          <p:cNvSpPr/>
          <p:nvPr/>
        </p:nvSpPr>
        <p:spPr>
          <a:xfrm>
            <a:off x="2441448" y="1874520"/>
            <a:ext cx="142646" cy="73152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BSM</a:t>
            </a:r>
            <a:br/>
            <a:r>
              <a:t>39B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2382" y="1874520"/>
            <a:ext cx="234086" cy="731520"/>
          </a:xfrm>
          <a:prstGeom prst="rect">
            <a:avLst/>
          </a:prstGeom>
          <a:solidFill>
            <a:srgbClr val="FFBB7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Sig</a:t>
            </a:r>
            <a:br/>
            <a:r>
              <a:t>64B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4756" y="1874520"/>
            <a:ext cx="137160" cy="731520"/>
          </a:xfrm>
          <a:prstGeom prst="rect">
            <a:avLst/>
          </a:prstGeom>
          <a:solidFill>
            <a:srgbClr val="FF9999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Cert</a:t>
            </a:r>
            <a:br/>
            <a:r>
              <a:t>32B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1644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= 163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33333"/>
                </a:solidFill>
              </a:defRPr>
            </a:pPr>
            <a:r>
              <a:t>Falcon-512</a:t>
            </a:r>
            <a:br/>
            <a:r>
              <a:t>(certificate)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971800"/>
            <a:ext cx="137160" cy="731520"/>
          </a:xfrm>
          <a:prstGeom prst="rect">
            <a:avLst/>
          </a:prstGeom>
          <a:solidFill>
            <a:srgbClr val="BDBDBD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Hdrs 28B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2971800"/>
            <a:ext cx="142646" cy="73152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BSM 39B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2382" y="2971800"/>
            <a:ext cx="2414016" cy="731520"/>
          </a:xfrm>
          <a:prstGeom prst="rect">
            <a:avLst/>
          </a:prstGeom>
          <a:solidFill>
            <a:srgbClr val="FFBB7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Sig ~660B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4686" y="2971800"/>
            <a:ext cx="3536899" cy="731520"/>
          </a:xfrm>
          <a:prstGeom prst="rect">
            <a:avLst/>
          </a:prstGeom>
          <a:solidFill>
            <a:srgbClr val="FF9999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Cert (pub 897B + meta) ~967B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1313" y="29260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= 1694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33333"/>
                </a:solidFill>
              </a:defRPr>
            </a:pPr>
            <a:r>
              <a:t>Falcon-512</a:t>
            </a:r>
            <a:br/>
            <a:r>
              <a:t>(digest)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069080"/>
            <a:ext cx="137160" cy="731520"/>
          </a:xfrm>
          <a:prstGeom prst="rect">
            <a:avLst/>
          </a:prstGeom>
          <a:solidFill>
            <a:srgbClr val="BDBDBD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Hdrs 28B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41448" y="4069080"/>
            <a:ext cx="142646" cy="73152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BSM 39B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2382" y="4069080"/>
            <a:ext cx="2414016" cy="731520"/>
          </a:xfrm>
          <a:prstGeom prst="rect">
            <a:avLst/>
          </a:prstGeom>
          <a:solidFill>
            <a:srgbClr val="FFBB7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Sig ~660B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4686" y="4069080"/>
            <a:ext cx="137160" cy="731520"/>
          </a:xfrm>
          <a:prstGeom prst="rect">
            <a:avLst/>
          </a:prstGeom>
          <a:solidFill>
            <a:srgbClr val="FFCCC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Digest 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1574" y="40233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= 735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120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62728"/>
                </a:solidFill>
              </a:defRPr>
            </a:pPr>
            <a:r>
              <a:t>Dilithium-2</a:t>
            </a:r>
            <a:br/>
            <a:r>
              <a:t>(INFEASIBLE)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166360"/>
            <a:ext cx="137160" cy="731520"/>
          </a:xfrm>
          <a:prstGeom prst="rect">
            <a:avLst/>
          </a:prstGeom>
          <a:solidFill>
            <a:srgbClr val="BDBDBD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Hdrs 28B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5166360"/>
            <a:ext cx="142646" cy="73152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BSM 39B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2382" y="5166360"/>
            <a:ext cx="8851392" cy="731520"/>
          </a:xfrm>
          <a:prstGeom prst="rect">
            <a:avLst/>
          </a:prstGeom>
          <a:solidFill>
            <a:srgbClr val="FFBB7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Sig 2420B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72062" y="5166360"/>
            <a:ext cx="137160" cy="731520"/>
          </a:xfrm>
          <a:prstGeom prst="rect">
            <a:avLst/>
          </a:prstGeom>
          <a:solidFill>
            <a:srgbClr val="FFCCC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Digest 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18950" y="5120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62728"/>
                </a:solidFill>
              </a:defRPr>
            </a:pPr>
            <a:r>
              <a:t>= 2495 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60505.6" y="1554480"/>
            <a:ext cx="0.0" cy="4663440"/>
          </a:xfrm>
          <a:prstGeom prst="line">
            <a:avLst/>
          </a:prstGeom>
          <a:ln w="31750">
            <a:solidFill>
              <a:srgbClr val="D6272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628985" y="1280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62728"/>
                </a:solidFill>
              </a:defRPr>
            </a:pPr>
            <a:r>
              <a:t>Max TBS = 2,481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■ Headers   ■ BSM Payload   ■ Signature   ■ Certificate/Digest   --- Max TBS (MCS 11, 10 SC)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3 — C-V2X Mode 4 Semi-Persistent Scheduling (SPS)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Resource selection and reservation procedure per 3GPP TS 36.321 / TS 36.213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554480"/>
            <a:ext cx="4572000" cy="594360"/>
          </a:xfrm>
          <a:prstGeom prst="rect">
            <a:avLst/>
          </a:prstGeom>
          <a:solidFill>
            <a:srgbClr val="98DF8A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BSM Generated at Application Layer</a:t>
            </a:r>
            <a:br/>
            <a:r>
              <a:t>(every 100 ms RRI)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.0" y="2148840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40480" y="2313432"/>
            <a:ext cx="4572000" cy="594360"/>
          </a:xfrm>
          <a:prstGeom prst="rect">
            <a:avLst/>
          </a:prstGeom>
          <a:solidFill>
            <a:srgbClr val="AEC7E8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Sense Channel: Measure RSSI/RSRP</a:t>
            </a:r>
            <a:br/>
            <a:r>
              <a:t>over Sensing Window (1000 ms)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.0" y="2907792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40480" y="3072384"/>
            <a:ext cx="4572000" cy="594360"/>
          </a:xfrm>
          <a:prstGeom prst="rect">
            <a:avLst/>
          </a:prstGeom>
          <a:solidFill>
            <a:srgbClr val="AEC7E8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Build Candidate Resource Set (SA)</a:t>
            </a:r>
            <a:br/>
            <a:r>
              <a:t>Exclude resources with RSRP &gt; threshold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.0" y="3666744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40480" y="3831336"/>
            <a:ext cx="4572000" cy="594360"/>
          </a:xfrm>
          <a:prstGeom prst="rect">
            <a:avLst/>
          </a:prstGeom>
          <a:solidFill>
            <a:srgbClr val="AEC7E8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Randomly Select from Top 20%</a:t>
            </a:r>
            <a:br/>
            <a:r>
              <a:t>Lowest Average RSSI Candidates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.0" y="4425696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40480" y="4590288"/>
            <a:ext cx="4572000" cy="594360"/>
          </a:xfrm>
          <a:prstGeom prst="rect">
            <a:avLst/>
          </a:prstGeom>
          <a:solidFill>
            <a:srgbClr val="FDE8D0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Create SPS Grant</a:t>
            </a:r>
            <a:br/>
            <a:r>
              <a:t>(Fix MCS + Subchannels for reservation)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.0" y="5184648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0480" y="5349240"/>
            <a:ext cx="4572000" cy="594360"/>
          </a:xfrm>
          <a:prstGeom prst="rect">
            <a:avLst/>
          </a:prstGeom>
          <a:solidFill>
            <a:srgbClr val="FFBB78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Transmit SPDU</a:t>
            </a:r>
            <a:br/>
            <a:r>
              <a:t>(PSCCH + PSSCH on reserved resources)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.0" y="5943600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40480" y="6108192"/>
            <a:ext cx="4572000" cy="594360"/>
          </a:xfrm>
          <a:prstGeom prst="rect">
            <a:avLst/>
          </a:prstGeom>
          <a:solidFill>
            <a:srgbClr val="DEEBF7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Decrement Reselection Counter</a:t>
            </a:r>
            <a:br/>
            <a:r>
              <a:t>(initialized to [5, 15])</a:t>
            </a:r>
          </a:p>
        </p:txBody>
      </p:sp>
      <p:sp>
        <p:nvSpPr>
          <p:cNvPr id="17" name="Diamond 16"/>
          <p:cNvSpPr/>
          <p:nvPr/>
        </p:nvSpPr>
        <p:spPr>
          <a:xfrm>
            <a:off x="4297680" y="6867144"/>
            <a:ext cx="3657600" cy="59436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Counter = 0?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.0" y="6702552"/>
            <a:ext cx="0.0" cy="164592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68880" y="69585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62728"/>
                </a:solidFill>
              </a:defRPr>
            </a:pPr>
            <a:r>
              <a:t>Yes →</a:t>
            </a:r>
            <a:br/>
            <a:r>
              <a:t>Reselect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657600" y="7164324.0"/>
            <a:ext cx="640080" cy="0.0"/>
          </a:xfrm>
          <a:prstGeom prst="line">
            <a:avLst/>
          </a:prstGeom>
          <a:ln w="2540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5360" y="6958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A02C"/>
                </a:solidFill>
              </a:defRPr>
            </a:pPr>
            <a:r>
              <a:t>No → Keep with</a:t>
            </a:r>
            <a:br/>
            <a:r>
              <a:t>prob. pKeep (0.8)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80" y="7164324.0"/>
            <a:ext cx="594360" cy="0.0"/>
          </a:xfrm>
          <a:prstGeom prst="line">
            <a:avLst/>
          </a:prstGeom>
          <a:ln w="25400">
            <a:solidFill>
              <a:srgbClr val="2C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2728"/>
                </a:solidFill>
              </a:defRPr>
            </a:pPr>
            <a:r>
              <a:t>← New sensing</a:t>
            </a:r>
            <a:br/>
            <a:r>
              <a:t>    &amp;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4 — Intersection Scenario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4-leg signalized intersection with varying vehicle densities (LOS A/C/F)</a:t>
            </a:r>
          </a:p>
        </p:txBody>
      </p:sp>
      <p:sp>
        <p:nvSpPr>
          <p:cNvPr id="4" name="Rectangle 3"/>
          <p:cNvSpPr/>
          <p:nvPr/>
        </p:nvSpPr>
        <p:spPr>
          <a:xfrm>
            <a:off x="3169310" y="3474720"/>
            <a:ext cx="5852160" cy="73152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29630" y="914400"/>
            <a:ext cx="731520" cy="585216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29630" y="3474720"/>
            <a:ext cx="731520" cy="73152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69310.0" y="4023360.0"/>
            <a:ext cx="2560320.0" cy="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61150.0" y="4023360.0"/>
            <a:ext cx="2560320.0" cy="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78270.0" y="914400.0"/>
            <a:ext cx="0.0" cy="256032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78270.0" y="4206240.0"/>
            <a:ext cx="0.0" cy="256032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69310.0" y="3657600.0"/>
            <a:ext cx="2560320.0" cy="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61150.0" y="3657600.0"/>
            <a:ext cx="2560320.0" cy="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12510.0" y="914400.0"/>
            <a:ext cx="0.0" cy="256032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12510.0" y="4206240.0"/>
            <a:ext cx="0.0" cy="2560320.0"/>
          </a:xfrm>
          <a:prstGeom prst="line">
            <a:avLst/>
          </a:prstGeom>
          <a:ln w="12700">
            <a:solidFill>
              <a:srgbClr val="FFFF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09390" y="3730752"/>
            <a:ext cx="109728" cy="1828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0870" y="3730752"/>
            <a:ext cx="109728" cy="1828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2350" y="3730752"/>
            <a:ext cx="109728" cy="1828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3830" y="3730752"/>
            <a:ext cx="109728" cy="1828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26910" y="3877056"/>
            <a:ext cx="109728" cy="1828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4110" y="3877056"/>
            <a:ext cx="109728" cy="1828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1310" y="3877056"/>
            <a:ext cx="109728" cy="1828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1966" y="1554480"/>
            <a:ext cx="182880" cy="10972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1966" y="2011680"/>
            <a:ext cx="182880" cy="10972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31966" y="2468880"/>
            <a:ext cx="182880" cy="10972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3716" y="4480560"/>
            <a:ext cx="182880" cy="109728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3716" y="4937760"/>
            <a:ext cx="182880" cy="109728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3716" y="5394960"/>
            <a:ext cx="182880" cy="109728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355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West (W)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851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East (E)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835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North (N)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835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South (S)</a:t>
            </a:r>
          </a:p>
        </p:txBody>
      </p:sp>
      <p:sp>
        <p:nvSpPr>
          <p:cNvPr id="32" name="Oval 31"/>
          <p:cNvSpPr/>
          <p:nvPr/>
        </p:nvSpPr>
        <p:spPr>
          <a:xfrm>
            <a:off x="3809390" y="1554480"/>
            <a:ext cx="4572000" cy="4572000"/>
          </a:xfrm>
          <a:prstGeom prst="ellipse">
            <a:avLst/>
          </a:prstGeom>
          <a:noFill/>
          <a:ln w="19050">
            <a:solidFill>
              <a:srgbClr val="D6272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267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62728"/>
                </a:solidFill>
              </a:defRPr>
            </a:pPr>
            <a:r>
              <a:t>Comm. range</a:t>
            </a:r>
            <a:br/>
            <a:r>
              <a:t>(~300 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Traffic Density Scenarios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103120"/>
            <a:ext cx="2560320" cy="1005840"/>
          </a:xfrm>
          <a:prstGeom prst="rect">
            <a:avLst/>
          </a:prstGeom>
          <a:solidFill>
            <a:srgbClr val="98DF8A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2354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LOS A</a:t>
            </a:r>
            <a:br/>
            <a:r>
              <a:t>(Free-flow)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Density: 10 veh/km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Flow: 724 veh/h/approach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383280"/>
            <a:ext cx="2560320" cy="1005840"/>
          </a:xfrm>
          <a:prstGeom prst="rect">
            <a:avLst/>
          </a:prstGeom>
          <a:solidFill>
            <a:srgbClr val="FFFFC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923544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LOS C</a:t>
            </a:r>
            <a:br/>
            <a:r>
              <a:t>(Stable flow)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749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Density: 50 veh/km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Flow: 3,622 veh/h/approach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4663440"/>
            <a:ext cx="2560320" cy="1005840"/>
          </a:xfrm>
          <a:prstGeom prst="rect">
            <a:avLst/>
          </a:prstGeom>
          <a:solidFill>
            <a:srgbClr val="FFCCC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9235440" y="4709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LOS F</a:t>
            </a:r>
            <a:br/>
            <a:r>
              <a:t>(Breakdown)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Density: 100 veh/km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Flow: 7,243 veh/h/approach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60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Parameters: 20 MHz BW, 10 subchannels, MCS 5–11</a:t>
            </a:r>
            <a:br/>
            <a:r>
              <a:t>RRI = 100 ms, Tx power = 23 dBm, 5.9 GHz</a:t>
            </a:r>
            <a:br/>
            <a:r>
              <a:t>Turn split: 80% through / 10% left / 10%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5 — Transport Block Size (TBS) Feasibility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Can the SPDU fit within the sidelink TBS? (3GPP TS 36.213 lookup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F7F7F"/>
                </a:solidFill>
              </a:defRPr>
            </a:pPr>
            <a:r>
              <a:t>Bytes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MCS 5</a:t>
            </a:r>
            <a:br/>
            <a:r>
              <a:t>(QPSK)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597956"/>
            <a:ext cx="365760" cy="345643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2960" y="53236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252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3312" y="5252313"/>
            <a:ext cx="365760" cy="691286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261872" y="497799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504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2224" y="4879238"/>
            <a:ext cx="365760" cy="1064361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700784" y="460491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776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1136" y="4176979"/>
            <a:ext cx="365760" cy="1766620"/>
          </a:xfrm>
          <a:prstGeom prst="rect">
            <a:avLst/>
          </a:prstGeom>
          <a:solidFill>
            <a:srgbClr val="1F77B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139696" y="39026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1288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MCS 7</a:t>
            </a:r>
            <a:br/>
            <a:r>
              <a:t>(QPSK)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5493715"/>
            <a:ext cx="365760" cy="449884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383280" y="521939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328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5032857"/>
            <a:ext cx="365760" cy="910742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822192" y="475853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664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2544" y="4528108"/>
            <a:ext cx="365760" cy="1415491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261104" y="42537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1032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91456" y="3562502"/>
            <a:ext cx="365760" cy="2381097"/>
          </a:xfrm>
          <a:prstGeom prst="rect">
            <a:avLst/>
          </a:prstGeom>
          <a:solidFill>
            <a:srgbClr val="1F77B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700016" y="328818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1736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MCS 11</a:t>
            </a:r>
            <a:br/>
            <a:r>
              <a:t>(16QAM)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274259"/>
            <a:ext cx="365760" cy="66934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943600" y="49999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488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4593945"/>
            <a:ext cx="365760" cy="1349654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82512" y="431962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984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2864" y="3825849"/>
            <a:ext cx="365760" cy="2117750"/>
          </a:xfrm>
          <a:prstGeom prst="rect">
            <a:avLst/>
          </a:prstGeom>
          <a:solidFill>
            <a:srgbClr val="AEC7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821424" y="35515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1544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51776" y="2540660"/>
            <a:ext cx="365760" cy="3402939"/>
          </a:xfrm>
          <a:prstGeom prst="rect">
            <a:avLst/>
          </a:prstGeom>
          <a:solidFill>
            <a:srgbClr val="1F77B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33333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260336" y="22663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2481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5720029.2"/>
            <a:ext cx="7315200" cy="0.0"/>
          </a:xfrm>
          <a:prstGeom prst="line">
            <a:avLst/>
          </a:prstGeom>
          <a:ln w="19050">
            <a:solidFill>
              <a:srgbClr val="2CA02C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1520" y="4935474.0"/>
            <a:ext cx="7315200" cy="0.0"/>
          </a:xfrm>
          <a:prstGeom prst="line">
            <a:avLst/>
          </a:prstGeom>
          <a:ln w="19050">
            <a:solidFill>
              <a:srgbClr val="1F77B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" y="3620109.6"/>
            <a:ext cx="7315200" cy="0.0"/>
          </a:xfrm>
          <a:prstGeom prst="line">
            <a:avLst/>
          </a:prstGeom>
          <a:ln w="19050">
            <a:solidFill>
              <a:srgbClr val="FF7F0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1520" y="2521458.0"/>
            <a:ext cx="7315200" cy="0.0"/>
          </a:xfrm>
          <a:prstGeom prst="line">
            <a:avLst/>
          </a:prstGeom>
          <a:ln w="19050">
            <a:solidFill>
              <a:srgbClr val="D6272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1520" y="2540660.4000000004"/>
            <a:ext cx="7315200" cy="0.0"/>
          </a:xfrm>
          <a:prstGeom prst="line">
            <a:avLst/>
          </a:prstGeom>
          <a:ln w="19050">
            <a:solidFill>
              <a:srgbClr val="D6272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503920" y="2057400"/>
            <a:ext cx="457200" cy="36576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A02C"/>
                </a:solidFill>
              </a:defRPr>
            </a:pPr>
            <a:r>
              <a:t>ECDSA SPDU = 163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468880"/>
            <a:ext cx="457200" cy="3657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77B4"/>
                </a:solidFill>
              </a:defRPr>
            </a:pPr>
            <a:r>
              <a:t>Falcon-512 Digest = 735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880360"/>
            <a:ext cx="457200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7F0E"/>
                </a:solidFill>
              </a:defRPr>
            </a:pPr>
            <a:r>
              <a:t>Falcon-512 Cert = 1,694 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3291840"/>
            <a:ext cx="457200" cy="36576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62728"/>
                </a:solidFill>
              </a:defRPr>
            </a:pPr>
            <a:r>
              <a:t>Dilithium-2 = 2,495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703320"/>
            <a:ext cx="457200" cy="36576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62728"/>
                </a:solidFill>
              </a:defRPr>
            </a:pPr>
            <a:r>
              <a:t>Max TBS = 2,481 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4572000"/>
            <a:ext cx="3200400" cy="1371600"/>
          </a:xfrm>
          <a:prstGeom prst="rect">
            <a:avLst/>
          </a:prstGeom>
          <a:solidFill>
            <a:srgbClr val="FFF0F0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Dilithium-2: INFEASIBLE</a:t>
            </a:r>
            <a:br/>
            <a:r>
              <a:t>(2,495 B &gt; 2,481 B max TBS)</a:t>
            </a:r>
            <a:br/>
            <a:br/>
            <a:r>
              <a:t>Falcon-512: Requires</a:t>
            </a:r>
            <a:br/>
            <a:r>
              <a:t>MCS ≥ 10, ≥ 8 subchannels</a:t>
            </a:r>
            <a:br/>
            <a:r>
              <a:t>for cert-bearing SPDU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Fig. 6 — Sidelink Subchannel Allocation per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400" i="1">
                <a:solidFill>
                  <a:srgbClr val="DDDDDD"/>
                </a:solidFill>
              </a:defRPr>
            </a:pPr>
            <a:r>
              <a:t>Time-frequency resource grid showing PSCCH + PSSCH occupancy per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ECDSA-256</a:t>
            </a:r>
            <a:br/>
            <a:r>
              <a:t>(163 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393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PSCCH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PSSCH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011680"/>
            <a:ext cx="27432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SCI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2011680"/>
            <a:ext cx="274320" cy="347472"/>
          </a:xfrm>
          <a:prstGeom prst="rect">
            <a:avLst/>
          </a:prstGeom>
          <a:solidFill>
            <a:srgbClr val="AEC7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73936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6544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59152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44368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36976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29584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22192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2377440"/>
            <a:ext cx="274320" cy="347472"/>
          </a:xfrm>
          <a:prstGeom prst="rect">
            <a:avLst/>
          </a:prstGeom>
          <a:solidFill>
            <a:srgbClr val="AEC7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81328" y="2377440"/>
            <a:ext cx="274320" cy="347472"/>
          </a:xfrm>
          <a:prstGeom prst="rect">
            <a:avLst/>
          </a:prstGeom>
          <a:solidFill>
            <a:srgbClr val="AEC7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3936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66544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59152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51760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44368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6976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29584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22192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2/10 subchannels used (20%)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7F0E"/>
                </a:solidFill>
              </a:defRPr>
            </a:pPr>
            <a:r>
              <a:t>Falcon-512</a:t>
            </a:r>
            <a:br/>
            <a:r>
              <a:t>Digest (735 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601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7862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0116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PSCCH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2377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PSSCH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2011680"/>
            <a:ext cx="27432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SCI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0368" y="201168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22976" y="201168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5584" y="201168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08192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93408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86016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8624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71232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37760" y="237744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30368" y="237744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2976" y="237744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15584" y="2377440"/>
            <a:ext cx="274320" cy="347472"/>
          </a:xfrm>
          <a:prstGeom prst="rect">
            <a:avLst/>
          </a:prstGeom>
          <a:solidFill>
            <a:srgbClr val="FFBB7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08192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93408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86016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78624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4/10 subchannels used (40%)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62728"/>
                </a:solidFill>
              </a:defRPr>
            </a:pPr>
            <a:r>
              <a:t>Falcon-512</a:t>
            </a:r>
            <a:br/>
            <a:r>
              <a:t>Cert (1,694 B)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7940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7201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6462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723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42448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35056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27664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20272" y="1783080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7F7F"/>
                </a:solidFill>
              </a:defRPr>
            </a:pPr>
            <a:r>
              <a:t>SC10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20116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PSCCH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38160" y="2377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F7F7F"/>
                </a:solidFill>
              </a:defRPr>
            </a:pPr>
            <a:r>
              <a:t>PSSCH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800" y="2011680"/>
            <a:ext cx="274320" cy="347472"/>
          </a:xfrm>
          <a:prstGeom prst="rect">
            <a:avLst/>
          </a:prstGeom>
          <a:solidFill>
            <a:srgbClr val="A5D6A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SCI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8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72016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64624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57232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149840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442448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735056" y="201168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027664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320272" y="201168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686800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979408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272016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64624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857232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DATA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149840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42448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35056" y="2377440"/>
            <a:ext cx="274320" cy="347472"/>
          </a:xfrm>
          <a:prstGeom prst="rect">
            <a:avLst/>
          </a:prstGeom>
          <a:solidFill>
            <a:srgbClr val="FFCC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027664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320272" y="2377440"/>
            <a:ext cx="2743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0392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62728"/>
                </a:solidFill>
              </a:defRPr>
            </a:pPr>
            <a:r>
              <a:t>8/10 subchannels used (80%)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7F7F"/>
                </a:solidFill>
              </a:defRPr>
            </a:pPr>
            <a:r>
              <a:t>■ SCI (Sidelink Control)   ■ PSSCH Data   □ Unused/Available   | Each subchannel = 10 RBs | 20 MHz bandwidth, adjacent scheme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28800" y="5303520"/>
            <a:ext cx="822960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Key Insight: Falcon-512 with full certificate consumes 80% of sidelink resources per TX,</a:t>
            </a:r>
            <a:br/>
            <a:r>
              <a:t>leaving only 2 subchannels for other vehicles in the same subframe.</a:t>
            </a:r>
            <a:br/>
            <a:r>
              <a:t>ECDSA uses only 20%, enabling 4× more concurrent transmissions.</a:t>
            </a:r>
            <a:br/>
            <a:r>
              <a:t>Under SPS, this allocation is FIXED for the entire grant duration — digest packets still reserve the same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